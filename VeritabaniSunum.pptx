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9" r:id="rId3"/>
    <p:sldId id="258" r:id="rId4"/>
    <p:sldId id="260" r:id="rId5"/>
    <p:sldId id="266" r:id="rId6"/>
    <p:sldId id="269" r:id="rId7"/>
    <p:sldId id="267" r:id="rId8"/>
    <p:sldId id="268" r:id="rId9"/>
    <p:sldId id="261" r:id="rId10"/>
    <p:sldId id="262" r:id="rId11"/>
    <p:sldId id="264" r:id="rId12"/>
    <p:sldId id="263" r:id="rId13"/>
    <p:sldId id="265" r:id="rId14"/>
    <p:sldId id="273" r:id="rId15"/>
    <p:sldId id="272" r:id="rId16"/>
    <p:sldId id="271" r:id="rId1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E8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1CE21-D20C-2346-E28C-CC7D4C0B41D0}" v="1527" dt="2026-05-13T04:10:15.680"/>
    <p1510:client id="{290A9A7A-242F-45B4-A6C7-D23F113333D1}" v="107" dt="2026-05-12T20:06:51.345"/>
    <p1510:client id="{B32DCC37-195A-472F-AEE6-3A85338227F1}" v="2" dt="2026-05-13T02:00:21.763"/>
    <p1510:client id="{D3EFD4C5-BBA3-4C59-83B7-D4578806C180}" v="37" dt="2026-05-13T10:43:58.554"/>
    <p1510:client id="{EB443F38-3086-4550-BCEF-32D4E677A620}" v="119" dt="2026-05-13T07:20:00.306"/>
    <p1510:client id="{FAF76037-4D4F-4DC1-80C1-B48C5FAC1BFF}" v="99" dt="2026-05-13T09:26:08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9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15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35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8423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5/13/2026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9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1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3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759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4336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4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3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1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7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462016" y="788533"/>
            <a:ext cx="9267968" cy="2732687"/>
          </a:xfrm>
        </p:spPr>
        <p:txBody>
          <a:bodyPr anchor="b">
            <a:normAutofit/>
          </a:bodyPr>
          <a:lstStyle/>
          <a:p>
            <a:pPr algn="ctr"/>
            <a:r>
              <a:rPr lang="tr-TR"/>
              <a:t>Kütüphane Otomasyon Sistemi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2293620" y="4164697"/>
            <a:ext cx="7604761" cy="13576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tr-TR"/>
              <a:t>Ders: Veritabanı ve Yönetim Sistemleri</a:t>
            </a:r>
          </a:p>
          <a:p>
            <a:pPr algn="ctr"/>
            <a:r>
              <a:rPr lang="tr-TR"/>
              <a:t>Hazırlayan: Hilal Kalkan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B92343-3747-869B-7941-E13C916A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239" y="404048"/>
            <a:ext cx="7964925" cy="986634"/>
          </a:xfrm>
        </p:spPr>
        <p:txBody>
          <a:bodyPr/>
          <a:lstStyle/>
          <a:p>
            <a:r>
              <a:rPr lang="tr-TR"/>
              <a:t>Otomasyon nedir?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CDE59F5-0E9F-B546-BB57-3754B34A6E91}"/>
              </a:ext>
            </a:extLst>
          </p:cNvPr>
          <p:cNvSpPr txBox="1"/>
          <p:nvPr/>
        </p:nvSpPr>
        <p:spPr>
          <a:xfrm>
            <a:off x="1370514" y="2717950"/>
            <a:ext cx="8131046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3200">
                <a:ea typeface="+mn-lt"/>
                <a:cs typeface="+mn-lt"/>
              </a:rPr>
              <a:t>“Otomasyon, insan müdahalesini en aza indirerek işlerin makine, yazılım veya sistemler tarafından otomatik yapılmasıdır.”</a:t>
            </a:r>
            <a:endParaRPr lang="tr-TR" sz="3200"/>
          </a:p>
          <a:p>
            <a:pPr algn="l"/>
            <a:endParaRPr lang="tr-TR" dirty="0"/>
          </a:p>
        </p:txBody>
      </p:sp>
      <p:pic>
        <p:nvPicPr>
          <p:cNvPr id="5" name="Grafik 4" descr="Monitör düz dolguyla">
            <a:extLst>
              <a:ext uri="{FF2B5EF4-FFF2-40B4-BE49-F238E27FC236}">
                <a16:creationId xmlns:a16="http://schemas.microsoft.com/office/drawing/2014/main" id="{9A999620-5F75-C82B-3B9B-60E927AF9D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7947" y="5000065"/>
            <a:ext cx="1597958" cy="1597958"/>
          </a:xfrm>
          <a:prstGeom prst="rect">
            <a:avLst/>
          </a:prstGeom>
        </p:spPr>
      </p:pic>
      <p:cxnSp>
        <p:nvCxnSpPr>
          <p:cNvPr id="6" name="Düz Ok Bağlayıcısı 5">
            <a:extLst>
              <a:ext uri="{FF2B5EF4-FFF2-40B4-BE49-F238E27FC236}">
                <a16:creationId xmlns:a16="http://schemas.microsoft.com/office/drawing/2014/main" id="{5BD9BE87-A9AF-4ABB-A082-8CC451C10EE9}"/>
              </a:ext>
            </a:extLst>
          </p:cNvPr>
          <p:cNvCxnSpPr/>
          <p:nvPr/>
        </p:nvCxnSpPr>
        <p:spPr>
          <a:xfrm>
            <a:off x="1372012" y="1643671"/>
            <a:ext cx="7300427" cy="1400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 descr="Kullanıcı düz dolguyla">
            <a:extLst>
              <a:ext uri="{FF2B5EF4-FFF2-40B4-BE49-F238E27FC236}">
                <a16:creationId xmlns:a16="http://schemas.microsoft.com/office/drawing/2014/main" id="{8629D4C4-FFDD-2697-5FB4-B3B48D9B09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0742" y="5000064"/>
            <a:ext cx="1261782" cy="1317811"/>
          </a:xfrm>
          <a:prstGeom prst="rect">
            <a:avLst/>
          </a:prstGeom>
        </p:spPr>
      </p:pic>
      <p:pic>
        <p:nvPicPr>
          <p:cNvPr id="8" name="Grafik 7" descr="Ok: Sağa döndür düz dolguyla">
            <a:extLst>
              <a:ext uri="{FF2B5EF4-FFF2-40B4-BE49-F238E27FC236}">
                <a16:creationId xmlns:a16="http://schemas.microsoft.com/office/drawing/2014/main" id="{E882E567-9F47-247B-E501-9CF5187881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4920000">
            <a:off x="4563035" y="53362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97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F89702-06CD-4C41-C435-A37A97CE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90" y="310103"/>
            <a:ext cx="10559316" cy="1122333"/>
          </a:xfrm>
        </p:spPr>
        <p:txBody>
          <a:bodyPr>
            <a:normAutofit fontScale="90000"/>
          </a:bodyPr>
          <a:lstStyle/>
          <a:p>
            <a:r>
              <a:rPr lang="tr-TR"/>
              <a:t> Kütüphane otomasyonu ne işe yarar?   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4A83C95-46D1-8E23-3B41-891ED6A35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58" y="2462093"/>
            <a:ext cx="8822704" cy="28050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z="3200">
                <a:solidFill>
                  <a:srgbClr val="000000"/>
                </a:solidFill>
              </a:rPr>
              <a:t>Yazılım sayesinde bir kütüphanenin içerisindeki kitap bilgilerini düzenler, üye ekleme çıkarma ve güncelleme işlemlerini yapar, ödünç alıp verme işlemlerini yönetir ve bunları kolaylaştırır.</a:t>
            </a:r>
            <a:endParaRPr lang="tr-TR" sz="3200"/>
          </a:p>
        </p:txBody>
      </p:sp>
      <p:cxnSp>
        <p:nvCxnSpPr>
          <p:cNvPr id="5" name="Düz Ok Bağlayıcısı 4">
            <a:extLst>
              <a:ext uri="{FF2B5EF4-FFF2-40B4-BE49-F238E27FC236}">
                <a16:creationId xmlns:a16="http://schemas.microsoft.com/office/drawing/2014/main" id="{27482DF0-4722-D677-8A57-D23C8F0EB6C9}"/>
              </a:ext>
            </a:extLst>
          </p:cNvPr>
          <p:cNvCxnSpPr/>
          <p:nvPr/>
        </p:nvCxnSpPr>
        <p:spPr>
          <a:xfrm>
            <a:off x="766894" y="1643671"/>
            <a:ext cx="7300427" cy="1400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 descr="Raftaki Kitaplar düz dolguyla">
            <a:extLst>
              <a:ext uri="{FF2B5EF4-FFF2-40B4-BE49-F238E27FC236}">
                <a16:creationId xmlns:a16="http://schemas.microsoft.com/office/drawing/2014/main" id="{28A251F0-6B07-4726-1814-6D3F5FAD34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54771" y="2781300"/>
            <a:ext cx="1272988" cy="128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2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7126BA-61D4-49D6-5333-41C2C9E6F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34" y="142628"/>
            <a:ext cx="8705894" cy="1112969"/>
          </a:xfrm>
        </p:spPr>
        <p:txBody>
          <a:bodyPr/>
          <a:lstStyle/>
          <a:p>
            <a:r>
              <a:rPr lang="tr-TR"/>
              <a:t>Projemde ne var?</a:t>
            </a:r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C6171593-1492-A37A-4E4F-3200D76EDA53}"/>
              </a:ext>
            </a:extLst>
          </p:cNvPr>
          <p:cNvSpPr txBox="1"/>
          <p:nvPr/>
        </p:nvSpPr>
        <p:spPr>
          <a:xfrm>
            <a:off x="657631" y="1257134"/>
            <a:ext cx="11326118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3200">
                <a:ea typeface="+mn-lt"/>
                <a:cs typeface="+mn-lt"/>
              </a:rPr>
              <a:t>Kütüphane kitaplarını listeleme ve kitaplar arasında arama yapabilme; yazar, kitap adı veya barkod numarasına göre filtreleme işlemleri</a:t>
            </a:r>
            <a:endParaRPr lang="tr-TR"/>
          </a:p>
          <a:p>
            <a:pPr marL="285750" indent="-285750">
              <a:buFont typeface="Arial"/>
              <a:buChar char="•"/>
            </a:pPr>
            <a:endParaRPr lang="tr-TR" sz="3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tr-TR" sz="3200">
                <a:ea typeface="+mn-lt"/>
                <a:cs typeface="+mn-lt"/>
              </a:rPr>
              <a:t>Üye ekleme, güncelleme ve listeleme işlemleri</a:t>
            </a:r>
            <a:endParaRPr lang="tr-TR"/>
          </a:p>
          <a:p>
            <a:pPr marL="285750" indent="-285750">
              <a:buFont typeface="Arial"/>
              <a:buChar char="•"/>
            </a:pPr>
            <a:endParaRPr lang="tr-TR" sz="3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tr-TR" sz="3200">
                <a:ea typeface="+mn-lt"/>
                <a:cs typeface="+mn-lt"/>
              </a:rPr>
              <a:t>Üye seçerek kitap ödünç verme işlemi</a:t>
            </a:r>
            <a:endParaRPr lang="tr-T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tr-TR" sz="3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tr-TR" sz="3200">
                <a:ea typeface="+mn-lt"/>
                <a:cs typeface="+mn-lt"/>
              </a:rPr>
              <a:t>Ödünç verilen kitapların listelenmesi ve iade işlemleri</a:t>
            </a:r>
            <a:endParaRPr lang="tr-TR"/>
          </a:p>
          <a:p>
            <a:pPr marL="285750" indent="-285750">
              <a:buFont typeface="Arial"/>
              <a:buChar char="•"/>
            </a:pPr>
            <a:endParaRPr lang="tr-TR" sz="32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tr-TR" sz="3200">
                <a:ea typeface="+mn-lt"/>
                <a:cs typeface="+mn-lt"/>
              </a:rPr>
              <a:t>Kitap ekleme, silme ve güncelleme işlemleri</a:t>
            </a:r>
            <a:endParaRPr lang="tr-TR">
              <a:ea typeface="+mn-lt"/>
              <a:cs typeface="+mn-lt"/>
            </a:endParaRPr>
          </a:p>
          <a:p>
            <a:endParaRPr lang="tr-TR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37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66C22A-36AA-8015-8405-B2736BF22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93" y="422776"/>
            <a:ext cx="10297130" cy="1292263"/>
          </a:xfrm>
        </p:spPr>
        <p:txBody>
          <a:bodyPr/>
          <a:lstStyle/>
          <a:p>
            <a:r>
              <a:rPr lang="tr-TR"/>
              <a:t>SQL ne işe yaradı?</a:t>
            </a:r>
          </a:p>
        </p:txBody>
      </p:sp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4B3EECED-30D5-C1D2-7CC0-540F465E2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619" y="2103658"/>
            <a:ext cx="10290675" cy="248008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3200">
                <a:solidFill>
                  <a:srgbClr val="000000"/>
                </a:solidFill>
              </a:rPr>
              <a:t>Verileri düzenledi.</a:t>
            </a:r>
            <a:endParaRPr lang="en-US" sz="32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3200">
                <a:solidFill>
                  <a:srgbClr val="000000"/>
                </a:solidFill>
              </a:rPr>
              <a:t>Yüzlerce kayıt arasından aranılan bir kitabı saniyeler içinde bulmayı sağladı</a:t>
            </a:r>
            <a:endParaRPr lang="en-US" sz="320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3200">
                <a:solidFill>
                  <a:srgbClr val="000000"/>
                </a:solidFill>
              </a:rPr>
              <a:t>Primary key ve foreign keyler bağlanarak bir tablo verisi başka bir tabloya bağlandı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3200">
                <a:solidFill>
                  <a:srgbClr val="000000"/>
                </a:solidFill>
              </a:rPr>
              <a:t> Tablolarda aynı verilerin tekrarlanmaması için </a:t>
            </a:r>
            <a:r>
              <a:rPr lang="tr-TR" sz="3200">
                <a:solidFill>
                  <a:srgbClr val="000000"/>
                </a:solidFill>
                <a:ea typeface="+mn-lt"/>
                <a:cs typeface="+mn-lt"/>
              </a:rPr>
              <a:t>k</a:t>
            </a:r>
            <a:r>
              <a:rPr lang="tr-TR" sz="3200">
                <a:ea typeface="+mn-lt"/>
                <a:cs typeface="+mn-lt"/>
              </a:rPr>
              <a:t>ısıtlayıcı kullanıldı.</a:t>
            </a:r>
            <a:endParaRPr lang="tr-TR" sz="3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37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567B1E3-54C5-0215-4364-A50A6298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911" y="550185"/>
            <a:ext cx="9405418" cy="4754880"/>
          </a:xfrm>
        </p:spPr>
        <p:txBody>
          <a:bodyPr>
            <a:normAutofit fontScale="90000"/>
          </a:bodyPr>
          <a:lstStyle/>
          <a:p>
            <a:r>
              <a:rPr lang="tr-TR" sz="3200" b="1" i="0" dirty="0">
                <a:solidFill>
                  <a:srgbClr val="000000"/>
                </a:solidFill>
                <a:latin typeface="Avenir Next LT Pro"/>
              </a:rPr>
              <a:t>C</a:t>
            </a:r>
            <a:r>
              <a:rPr lang="tr-TR" sz="3200" b="1" i="0" dirty="0">
                <a:latin typeface="Avenir Next LT Pro"/>
              </a:rPr>
              <a:t>ONSTRAINT (KISITLAYICI)</a:t>
            </a:r>
            <a:r>
              <a:rPr lang="tr-TR" sz="3200" i="0" dirty="0">
                <a:latin typeface="Avenir Next LT Pro"/>
              </a:rPr>
              <a:t> </a:t>
            </a:r>
            <a:br>
              <a:rPr lang="tr-TR" sz="3200" i="0" dirty="0">
                <a:latin typeface="Avenir Next LT Pro"/>
              </a:rPr>
            </a:br>
            <a:br>
              <a:rPr lang="tr-TR" sz="3200" i="0" dirty="0">
                <a:latin typeface="Avenir Next LT Pro"/>
              </a:rPr>
            </a:br>
            <a:r>
              <a:rPr lang="tr-TR" sz="3200" i="0" dirty="0">
                <a:latin typeface="Avenir Next LT Pro"/>
              </a:rPr>
              <a:t>PRIMARY KEY(Birincil anahtar):</a:t>
            </a:r>
            <a:r>
              <a:rPr lang="tr-TR" sz="3200" i="0" dirty="0">
                <a:latin typeface="Avenir Next LT Pro"/>
                <a:ea typeface="+mj-lt"/>
                <a:cs typeface="+mj-lt"/>
              </a:rPr>
              <a:t>Bir tablodaki her satırı birbirinden ayıran eşsiz kimliktir</a:t>
            </a:r>
            <a:r>
              <a:rPr lang="tr-TR" sz="3200" i="0" dirty="0">
                <a:ea typeface="+mj-lt"/>
                <a:cs typeface="+mj-lt"/>
              </a:rPr>
              <a:t>.</a:t>
            </a:r>
            <a:br>
              <a:rPr lang="tr-TR" sz="3200" i="0" dirty="0">
                <a:latin typeface="Sitka Banner"/>
              </a:rPr>
            </a:br>
            <a:br>
              <a:rPr lang="tr-TR" sz="3200" i="0" dirty="0">
                <a:latin typeface="Avenir Next LT Pro"/>
              </a:rPr>
            </a:br>
            <a:r>
              <a:rPr lang="tr-TR" sz="3200" i="0" dirty="0">
                <a:latin typeface="Avenir Next LT Pro"/>
              </a:rPr>
              <a:t>FOREIGN KEY(Yabancı anahtar):</a:t>
            </a:r>
            <a:r>
              <a:rPr lang="tr-TR" sz="3200" i="0" dirty="0">
                <a:latin typeface="Avenir Next LT Pro"/>
                <a:ea typeface="+mj-lt"/>
                <a:cs typeface="+mj-lt"/>
              </a:rPr>
              <a:t>Tabloları birbirine bağlayan kuraldır</a:t>
            </a:r>
            <a:r>
              <a:rPr lang="tr-TR" sz="3200" i="0" dirty="0">
                <a:ea typeface="+mj-lt"/>
                <a:cs typeface="+mj-lt"/>
              </a:rPr>
              <a:t>.</a:t>
            </a:r>
            <a:br>
              <a:rPr lang="tr-TR" sz="3200" i="0" dirty="0">
                <a:latin typeface="Avenir Next LT Pro"/>
              </a:rPr>
            </a:br>
            <a:br>
              <a:rPr lang="tr-TR" sz="3200" i="0" dirty="0">
                <a:latin typeface="Avenir Next LT Pro"/>
              </a:rPr>
            </a:br>
            <a:r>
              <a:rPr lang="tr-TR" sz="3200" i="0">
                <a:latin typeface="Avenir Next LT Pro"/>
                <a:ea typeface="+mj-lt"/>
                <a:cs typeface="+mj-lt"/>
              </a:rPr>
              <a:t>UNIQUE (Benzersiz): Bir sütundaki verilerin tekrarlanmasını önler.</a:t>
            </a:r>
            <a:br>
              <a:rPr lang="tr-TR" sz="3200" i="0" dirty="0">
                <a:latin typeface="Avenir Next LT Pro"/>
                <a:ea typeface="+mj-lt"/>
                <a:cs typeface="+mj-lt"/>
              </a:rPr>
            </a:br>
            <a:br>
              <a:rPr lang="tr-TR" sz="3200" i="0" dirty="0">
                <a:latin typeface="Avenir Next LT Pro"/>
                <a:ea typeface="+mj-lt"/>
                <a:cs typeface="+mj-lt"/>
              </a:rPr>
            </a:br>
            <a:r>
              <a:rPr lang="tr-TR" sz="3200" i="0">
                <a:latin typeface="Avenir Next LT Pro"/>
              </a:rPr>
              <a:t>CHECK: Belirli bir şartı zorunlu kılar.</a:t>
            </a:r>
            <a:endParaRPr lang="tr-TR" sz="3200" i="0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5660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16805BA-6133-8B5E-C360-A2C018DE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4526100" cy="1213822"/>
          </a:xfrm>
        </p:spPr>
        <p:txBody>
          <a:bodyPr/>
          <a:lstStyle/>
          <a:p>
            <a:r>
              <a:rPr lang="tr-TR"/>
              <a:t>Sql tabloları: </a:t>
            </a:r>
          </a:p>
        </p:txBody>
      </p:sp>
      <p:pic>
        <p:nvPicPr>
          <p:cNvPr id="4" name="İçerik Yer Tutucusu 3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370EB41-98B8-392F-CA63-457375A97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2045" y="2799936"/>
            <a:ext cx="3226733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7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7A1F39-C042-1FA5-4213-A204E1FB6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8511" y="221070"/>
            <a:ext cx="4492483" cy="877645"/>
          </a:xfrm>
        </p:spPr>
        <p:txBody>
          <a:bodyPr>
            <a:normAutofit fontScale="90000"/>
          </a:bodyPr>
          <a:lstStyle/>
          <a:p>
            <a:r>
              <a:rPr lang="tr-TR"/>
              <a:t>ER diyagramı</a:t>
            </a:r>
          </a:p>
        </p:txBody>
      </p:sp>
      <p:pic>
        <p:nvPicPr>
          <p:cNvPr id="4" name="İçerik Yer Tutucusu 3" descr="metin, ekran görüntüsü, diyagram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68818C0-B54E-0A3B-63C5-6C902CA38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530" y="1358852"/>
            <a:ext cx="9278470" cy="513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54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E715F47-29BC-2868-A024-606B1B4A8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5" y="2732"/>
            <a:ext cx="12192000" cy="701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80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 descr="metin, ekran görüntüsü, sayı, numara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1C1AE2C-C397-81A2-4E3E-FE63A1D31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607" y="4737"/>
            <a:ext cx="12212876" cy="685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9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 descr="metin, ekran görüntüsü, sayı, numara, parale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D8532A1-72B2-DC49-B7F0-B8B15065E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608" y="805"/>
            <a:ext cx="12171122" cy="685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7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6A75040-D1BA-99A4-41C9-6A01DFDA2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5" y="2537"/>
            <a:ext cx="12191999" cy="685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93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 descr="metin, ekran görüntüsü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CC34ECF-6183-4E7D-AF56-BF014EBAC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5" y="-9"/>
            <a:ext cx="12192000" cy="685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95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EED97F5-EFBF-6497-B942-5F6120A3A2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11" y="2739"/>
            <a:ext cx="12191608" cy="686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91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E91D913-26DF-5A2A-1201-C94ABEE3C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11" y="5212"/>
            <a:ext cx="12191608" cy="685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94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E8EA01-AD5D-1F23-7BAC-157449EA1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020" y="2272514"/>
            <a:ext cx="10835472" cy="4754880"/>
          </a:xfrm>
        </p:spPr>
        <p:txBody>
          <a:bodyPr/>
          <a:lstStyle/>
          <a:p>
            <a:r>
              <a:rPr lang="tr-TR"/>
              <a:t>Dinlediğiniz için teşekkür ederim.</a:t>
            </a:r>
          </a:p>
        </p:txBody>
      </p:sp>
    </p:spTree>
    <p:extLst>
      <p:ext uri="{BB962C8B-B14F-4D97-AF65-F5344CB8AC3E}">
        <p14:creationId xmlns:p14="http://schemas.microsoft.com/office/powerpoint/2010/main" val="3922532936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Geniş ekran</PresentationFormat>
  <Slides>16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17" baseType="lpstr">
      <vt:lpstr>HeadlinesVTI</vt:lpstr>
      <vt:lpstr>Kütüphane Otomasyon Sistemi</vt:lpstr>
      <vt:lpstr>Otomasyon nedir?</vt:lpstr>
      <vt:lpstr> Kütüphane otomasyonu ne işe yarar?    </vt:lpstr>
      <vt:lpstr>Projemde ne var?</vt:lpstr>
      <vt:lpstr>SQL ne işe yaradı?</vt:lpstr>
      <vt:lpstr>CONSTRAINT (KISITLAYICI)   PRIMARY KEY(Birincil anahtar):Bir tablodaki her satırı birbirinden ayıran eşsiz kimliktir.  FOREIGN KEY(Yabancı anahtar):Tabloları birbirine bağlayan kuraldır.  UNIQUE (Benzersiz): Bir sütundaki verilerin tekrarlanmasını önler.  CHECK: Belirli bir şartı zorunlu kılar.</vt:lpstr>
      <vt:lpstr>Sql tabloları: </vt:lpstr>
      <vt:lpstr>ER diyagramı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Dinlediğiniz için teşekkür ederim.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389</cp:revision>
  <dcterms:created xsi:type="dcterms:W3CDTF">2026-05-12T18:44:51Z</dcterms:created>
  <dcterms:modified xsi:type="dcterms:W3CDTF">2026-05-13T14:58:07Z</dcterms:modified>
</cp:coreProperties>
</file>